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27a6eb93dc41eb" /><Relationship Type="http://schemas.openxmlformats.org/officeDocument/2006/relationships/extended-properties" Target="/docProps/app.xml" Id="R5f1b81c599b44c46" /><Relationship Type="http://schemas.openxmlformats.org/officeDocument/2006/relationships/officeDocument" Target="/ppt/presentation.xml" Id="Rc6f93bd6454847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1c7a844e66442d"/>
  </p:sldMasterIdLst>
  <p:notesMasterIdLst>
    <p:notesMasterId xmlns:r="http://schemas.openxmlformats.org/officeDocument/2006/relationships" r:id="R11ddee20d76443c9"/>
  </p:notesMasterIdLst>
  <p:sldIdLst>
    <p:sldId xmlns:r="http://schemas.openxmlformats.org/officeDocument/2006/relationships" id="256" r:id="R102e58c48cef4317"/>
    <p:sldId xmlns:r="http://schemas.openxmlformats.org/officeDocument/2006/relationships" id="257" r:id="Rf32aa0c376654c70"/>
    <p:sldId xmlns:r="http://schemas.openxmlformats.org/officeDocument/2006/relationships" id="258" r:id="Rae597666e9584bd0"/>
    <p:sldId xmlns:r="http://schemas.openxmlformats.org/officeDocument/2006/relationships" id="259" r:id="Rdd372668859a46b8"/>
    <p:sldId xmlns:r="http://schemas.openxmlformats.org/officeDocument/2006/relationships" id="260" r:id="R04a09f82e0f248e4"/>
    <p:sldId xmlns:r="http://schemas.openxmlformats.org/officeDocument/2006/relationships" id="261" r:id="R108863312683428d"/>
    <p:sldId xmlns:r="http://schemas.openxmlformats.org/officeDocument/2006/relationships" id="262" r:id="Raa9f4ca6b9514ed1"/>
    <p:sldId xmlns:r="http://schemas.openxmlformats.org/officeDocument/2006/relationships" id="263" r:id="R24b228d02acc46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c7a844e66442d" /><Relationship Type="http://schemas.openxmlformats.org/officeDocument/2006/relationships/theme" Target="/ppt/theme/theme1.xml" Id="R11b46ae961fd4026" /><Relationship Type="http://schemas.openxmlformats.org/officeDocument/2006/relationships/notesMaster" Target="/ppt/notesMasters/notesMaster1.xml" Id="R11ddee20d76443c9" /><Relationship Type="http://schemas.openxmlformats.org/officeDocument/2006/relationships/presProps" Target="/ppt/presProps.xml" Id="R1072c32547c44831" /><Relationship Type="http://schemas.openxmlformats.org/officeDocument/2006/relationships/viewProps" Target="/ppt/viewProps.xml" Id="R0d4853929e1842b0" /><Relationship Type="http://schemas.openxmlformats.org/officeDocument/2006/relationships/tableStyles" Target="/ppt/tableStyles.xml" Id="R3758cbff164e4e21" /><Relationship Type="http://schemas.openxmlformats.org/officeDocument/2006/relationships/slide" Target="/ppt/slides/slide1.xml" Id="R102e58c48cef4317" /><Relationship Type="http://schemas.openxmlformats.org/officeDocument/2006/relationships/slide" Target="/ppt/slides/slide2.xml" Id="Rf32aa0c376654c70" /><Relationship Type="http://schemas.openxmlformats.org/officeDocument/2006/relationships/slide" Target="/ppt/slides/slide3.xml" Id="Rae597666e9584bd0" /><Relationship Type="http://schemas.openxmlformats.org/officeDocument/2006/relationships/slide" Target="/ppt/slides/slide4.xml" Id="Rdd372668859a46b8" /><Relationship Type="http://schemas.openxmlformats.org/officeDocument/2006/relationships/slide" Target="/ppt/slides/slide5.xml" Id="R04a09f82e0f248e4" /><Relationship Type="http://schemas.openxmlformats.org/officeDocument/2006/relationships/slide" Target="/ppt/slides/slide6.xml" Id="R108863312683428d" /><Relationship Type="http://schemas.openxmlformats.org/officeDocument/2006/relationships/slide" Target="/ppt/slides/slide7.xml" Id="Raa9f4ca6b9514ed1" /><Relationship Type="http://schemas.openxmlformats.org/officeDocument/2006/relationships/slide" Target="/ppt/slides/slide8.xml" Id="R24b228d02acc46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dfdef5f1d8c4b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29a08120924829" /><Relationship Type="http://schemas.openxmlformats.org/officeDocument/2006/relationships/notesMaster" Target="/ppt/notesMasters/notesMaster1.xml" Id="R0ab6215fa6474e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049584a0fa44c7" /><Relationship Type="http://schemas.openxmlformats.org/officeDocument/2006/relationships/notesMaster" Target="/ppt/notesMasters/notesMaster1.xml" Id="R8a761875ab3043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ae5f8544414db7" /><Relationship Type="http://schemas.openxmlformats.org/officeDocument/2006/relationships/notesMaster" Target="/ppt/notesMasters/notesMaster1.xml" Id="Rfbe8cc786cc447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392b1245174fe5" /><Relationship Type="http://schemas.openxmlformats.org/officeDocument/2006/relationships/notesMaster" Target="/ppt/notesMasters/notesMaster1.xml" Id="Rb08018edbd6c4d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f9689676a24d3f" /><Relationship Type="http://schemas.openxmlformats.org/officeDocument/2006/relationships/notesMaster" Target="/ppt/notesMasters/notesMaster1.xml" Id="Rc6d2915775cc42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32d810e9d246c2" /><Relationship Type="http://schemas.openxmlformats.org/officeDocument/2006/relationships/notesMaster" Target="/ppt/notesMasters/notesMaster1.xml" Id="Rdf944d9b973b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31c0aa58cb4607" /><Relationship Type="http://schemas.openxmlformats.org/officeDocument/2006/relationships/notesMaster" Target="/ppt/notesMasters/notesMaster1.xml" Id="Rce4d32920fe14a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afd2f9936f4be0" /><Relationship Type="http://schemas.openxmlformats.org/officeDocument/2006/relationships/notesMaster" Target="/ppt/notesMasters/notesMaster1.xml" Id="R90e7d1dfa78348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970115b6c454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99f91637b444b68" /><Relationship Type="http://schemas.openxmlformats.org/officeDocument/2006/relationships/slideLayout" Target="/ppt/slideLayouts/slideLayout2.xml" Id="Rb1d6f77d2d704f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d6f77d2d704f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faf73fde084b6d" /><Relationship Type="http://schemas.openxmlformats.org/officeDocument/2006/relationships/notesSlide" Target="/ppt/notesSlides/notesSlide1.xml" Id="Rdf731d4f23ef47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c0a24124644510" /><Relationship Type="http://schemas.openxmlformats.org/officeDocument/2006/relationships/image" Target="/ppt/media/image.png" Id="R1efdb85b5ea94595" /><Relationship Type="http://schemas.openxmlformats.org/officeDocument/2006/relationships/notesSlide" Target="/ppt/notesSlides/notesSlide2.xml" Id="Rc1a3fda796414f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e1ce174abb417c" /><Relationship Type="http://schemas.openxmlformats.org/officeDocument/2006/relationships/notesSlide" Target="/ppt/notesSlides/notesSlide3.xml" Id="R08e519edc98948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28bafa7954450" /><Relationship Type="http://schemas.openxmlformats.org/officeDocument/2006/relationships/notesSlide" Target="/ppt/notesSlides/notesSlide4.xml" Id="Rb8499dec338a43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1d42083565413e" /><Relationship Type="http://schemas.openxmlformats.org/officeDocument/2006/relationships/image" Target="/ppt/media/image2.png" Id="Re27ee84e146c4528" /><Relationship Type="http://schemas.openxmlformats.org/officeDocument/2006/relationships/notesSlide" Target="/ppt/notesSlides/notesSlide5.xml" Id="R0a9d68c30bf749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34237cc3c54019" /><Relationship Type="http://schemas.openxmlformats.org/officeDocument/2006/relationships/image" Target="/ppt/media/image3.png" Id="R14b1b16e561a48f4" /><Relationship Type="http://schemas.openxmlformats.org/officeDocument/2006/relationships/image" Target="/ppt/media/image4.png" Id="R9d715ba3f5fa4d38" /><Relationship Type="http://schemas.openxmlformats.org/officeDocument/2006/relationships/notesSlide" Target="/ppt/notesSlides/notesSlide6.xml" Id="R6448a692c3e044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7825f424f2463b" /><Relationship Type="http://schemas.openxmlformats.org/officeDocument/2006/relationships/notesSlide" Target="/ppt/notesSlides/notesSlide7.xml" Id="R9511576190044f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f4b7fd79f04546" /><Relationship Type="http://schemas.openxmlformats.org/officeDocument/2006/relationships/notesSlide" Target="/ppt/notesSlides/notesSlide8.xml" Id="R8c1e85923b2640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6F7453-F5BF-460D-8DA3-8C5EF8E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2A648-B7C7-4670-B90B-EA13F535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01 / EXECUTIVE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5D84E-9213-45F7-86F1-0B2B59AB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Emulator 02 is a controlled etch modifier, not a replacement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8011A-A4AA-46CC-8068-8631A8A5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The preserved Emulator 01 direct sputter output is multiplied by an inspectable ion transmission factor.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47275-2364-4CDF-BEB6-1A5588FC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77152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89196-F7FD-40E2-B48C-03B66CE0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depo_field = conformal deposition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75017-E60C-411D-A46F-D794AA46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sputter_raw = Emulator 01 direct sputter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5678B-7A22-457F-B7EB-24E7352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sputter_effective = sputter_raw × ion_factor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4FC74-B8B1-4C85-8C00-9335956D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7302D-7BE8-4121-8062-227C5C24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ion_factor ∈ [0, 1]; deposition is intentionally not attenuated.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056DD-321F-43D2-8B6A-76A7AFB3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70932-FC41-4A61-A207-BC0D8228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Override=1 equality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0D5B7-4C5F-4D92-B846-4D027E44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90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0.0e+0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C7891-8BB5-451A-A9E0-6B0A0E66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9A613-CEED-47D4-A92B-E407586D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14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Zero sputter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F4BEB-A404-48AE-99EC-ED85008D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956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0.0e+0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EB4C3-E2E8-49EA-B9A1-9B7B91AA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AB27C-AD6C-4B12-A8CF-3D9A8F85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195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C7D8B-20FF-4579-9968-F86EE859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0052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49 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3EA82-8016-42BD-90EF-5B9712A5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01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2E92A-4751-4B22-8C46-E6E41EB1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2442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Bottom ion_factor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7FB62-8346-4B5C-A9AE-F8550C2F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054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0.202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E909C-7DA8-49FF-912F-600CA4E0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Main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46EA7-4946-476D-89E7-3FF58779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Keep Emulator 02 as the experimental ion-arrival layer, with performance optimization as the next engineering focus.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1E0BC-17C8-4B47-8385-13267DD3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2BC15-7B81-4241-9C9E-556CCBC6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Local evaluation generated from current /Users/jib/Documents/Gapsim codebase.</a:t>
            </a:r>
          </a:p>
        </p:txBody>
      </p:sp>
    </p:spTree>
    <p:extLst>
      <p:ext uri="{BB962C8B-B14F-4D97-AF65-F5344CB8AC3E}">
        <p14:creationId xmlns:p14="http://schemas.microsoft.com/office/powerpoint/2010/main" val="1965942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873D1C-9731-42F1-B660-2EF93626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1801E-19BF-4919-B220-6328C3C2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02 / USABILITY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34421-1918-4B53-B37E-19B2B47F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The UI now reads as one Etch switch with two nested model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F051B-7E86-43A3-A85A-377C5E0C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Parameters are grouped by physical ownership: deposition base, etch master, direct sputter kernel, ion transmission modifier.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db85b5ea94595"/>
          <a:stretch xmlns:a="http://schemas.openxmlformats.org/drawingml/2006/main"/>
        </p:blipFill>
        <p:spPr>
          <a:xfrm xmlns:a="http://schemas.openxmlformats.org/drawingml/2006/main">
            <a:off x="536652" y="1857375"/>
            <a:ext cx="6660995" cy="426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65C8C-DAD3-457D-9C74-574C7E5D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66900"/>
            <a:ext cx="3733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21EFF-69E9-4B5A-9CF9-29CF3FCA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Etch enabled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A77FC-165E-40AE-B57A-B3CD82CC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28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Master switch gates all etch-side modifiers.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DEA55-9E52-485C-B055-8D38FF52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E9A71-9C56-4AFC-AC8D-C7022FE3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90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CADF1-FE2C-4D4C-8A27-1B904A9A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480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 Direct sputter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E1127-FC5D-49FB-9497-A2535A1C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Etch A/CYC, Gaussian peak, width, smoothing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B42DB-E06B-4433-8888-5BD70A8A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5285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292F2-5970-4363-B921-18BDCDAF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766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60C4C-399E-43A7-A725-59ED4A16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338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 Ion depth curve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21D7F-280C-4A4C-A32D-073C971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957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start, end, drop, floor, curve power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3B411-C8A5-4BAD-A989-29692786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3865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6676D-1978-47BC-BF2F-1E1E587E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624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D9D6E-B59F-4E84-B51E-6A7FFBD3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196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 Geometry modifiers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E5607-B77C-4353-991F-9171EF80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815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aperture, hidden, edge shadow sliders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754FF-5762-4FBF-BBDB-6DD396DC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2445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D9744-B9CF-4B8E-9159-D3DCF846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482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3D1D6-F50C-4E67-86C0-31075130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054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Debug separation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ABC35-EF9D-4443-9930-80EA04C1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673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raw sputter, ion_factor, effective sputter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3471A-EAD3-486C-94DB-A4F03616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E3718-A9C0-41B2-B6D8-38A65F8F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Usability note: model discovery happens through visible grouping, not hidden config fields.</a:t>
            </a:r>
          </a:p>
        </p:txBody>
      </p:sp>
    </p:spTree>
    <p:extLst>
      <p:ext uri="{BB962C8B-B14F-4D97-AF65-F5344CB8AC3E}">
        <p14:creationId xmlns:p14="http://schemas.microsoft.com/office/powerpoint/2010/main" val="1244623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B94FBF-8E1C-4F0D-9011-C7DF2F1B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DA1A8-7E2C-447A-A4A7-A430AB8F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03 / LITERATURE BASIS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3CD7E-665D-46E7-876A-9E0E115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A reduced ion-transmission modifier is aligned with how etch literature separates arrival, angle, and transport.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74D8B-AEA0-4A16-AEB6-AF9D95CD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The deck uses these papers as boundary conditions for what Emulator 02 should and should not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9F214-3BE7-460C-B486-B4F67F7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CD6EB-FA9B-4652-AFD1-AB882FBC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Paper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99C4F-5C35-46E1-964D-298F3CF2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19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Source phrase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3BBBB-042C-46B2-B445-7319E00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19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Implication for Emulator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A0567-95B2-4EF9-AE6B-644016D1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19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1FBF5-00D7-4FA4-9639-2EDF507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669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AA030-AFFB-4FE2-AA91-2FE3C9E4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5D1A7-B8E4-4BDF-BCE9-526CB71D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669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E0020-A62F-443E-9560-4B136861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8FA72-55F1-44C7-9B18-D015FFAC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B8454-38E0-4DED-A56D-D16DE135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1C859-BEFE-4C50-B2C3-3F16B81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63769-09FE-47FB-A9CC-467F134E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17A6B-EB80-4B19-9ECA-CEF5B4D3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4E660-1807-4E23-833A-97293C08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Coburn &amp; Winters, 1979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7FD9C-32A4-44B3-B24A-4E9F200C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"gas-surface chemical reactions can be enhanced"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E05D4-CA5E-4370-BF4B-ED7E5E1E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Ion bombardment can be modeled as an etch-side driver.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39BFD-6B0D-44DE-8EF3-C51F329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not chemistry solver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B8CB2-A425-4017-8B70-51BCE843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Aydil et al., 1998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E7228E-1A99-4CAD-9E5A-EAB9E89C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"determines the shape evolution"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0BDA8-7E63-45DE-9FD1-0575B630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28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Angle distribution justifies preserving the Gaussian direct-sputter kernel.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C53D4-9456-4A3C-904A-465F2C3E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28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not plasma sheath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04028-D45F-476F-82EC-B0F904DB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Volland &amp; Rangelow, 2003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46A2AA-6D49-41E7-97F2-54C100C1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04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"direct line-of-sight shadowing"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1839D5-3B97-49AB-B86C-77C1626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004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Ion transmission can be represented as geometric arrival probability.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3601CF-A618-4034-A85A-24A4236B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00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not ray tracing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371DE4-A0F0-4CC5-9868-BFDA0FC0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Volland et al., 2001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98E1EA-AB86-4A4C-8CCF-04FF253D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719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"shadowing of ions by the sidewalls and mask"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24BE93-E9D1-40CF-8AD4-68B0558B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Neck/hidden parameters should be separate from depth curve.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5F9FE9-A599-4967-B5E1-427576A2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171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not redeposition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9A380-5EF6-4815-8557-025FD804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Giapis &amp; Hwang, 2000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B0D4C0-3D53-4A72-BD03-FCDCA5A2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434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"ion scattering at the sidewalls"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B19D1F-5A3B-47F4-A982-408B187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434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Reflection/microtrenching belongs outside Emulator 02.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DF8F8A-8E5C-4EDF-A0FE-3E5946B9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43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explicitly excluded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674624-8805-4A6B-A1B6-18F04250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Huard et al., 2017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D6D309-2D5F-40DE-9289-C8AFCC0D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149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"aspect ratio dependent plasma etching"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ABD9D1-9AEC-44E2-AD78-EDE317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314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Full ARDE requires neutral transport too; Emulator 02 stays reduced.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370AFC-5B0F-4241-B9E5-9F42BC32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314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not full ARDE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26A2E8-DB2F-43D4-9932-FB173D4D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588529-3748-4C21-AF30-CFD70AC4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Sources: J. Appl. Phys.; Materials Science in Semiconductor Processing; Microelectronic Engineering; Thin Solid Films; JVST A.</a:t>
            </a:r>
          </a:p>
        </p:txBody>
      </p:sp>
    </p:spTree>
    <p:extLst>
      <p:ext uri="{BB962C8B-B14F-4D97-AF65-F5344CB8AC3E}">
        <p14:creationId xmlns:p14="http://schemas.microsoft.com/office/powerpoint/2010/main" val="1914244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CFE57-3DCE-49AC-9414-CF808AFE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DC817-EBE8-48F7-8A0A-66A214A0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04 / IMPLEMENTATION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365E8-BAA2-4BAF-AFFB-A9B4BFB6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The stack is explicit: deposition remains independent, etch is the only attenuated branch.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E2ED3-574E-43F3-8DB1-D3A680AE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This is the key guardrail that keeps Emulator 02 from becoming a second, incompatible sputter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298C7-C691-4812-90BE-19B29F10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1A902-462F-4390-BC95-39EF8EFD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Conformal deposition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CCBFC-7D7C-4E6D-A6D9-20574075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depo_field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092FA-1F8E-4724-A2C8-71AE4492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C8ACE-CFE5-43A7-87F1-9CFCB70A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 Direct sputter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78460-AFF3-46BC-8989-4EC7124A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sputter_raw_field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72EB1-B6BF-4172-BCD8-6177AB4B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6A64A-36D2-4667-A256-3A1EFE5F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98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2 Ion transmission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ED04F-BD78-4FD8-9A76-F8136CB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718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ion_factor_field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CF598-9CB8-40B3-969C-09EEC745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0BD93-B74E-4F14-A824-9C2258EC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Effective 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DE49A-CC05-44EB-9D8E-25BE154E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718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sputter_effective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EF5F7-A4AA-4A3B-92E9-E885690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956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42ADD-6E81-438F-B655-4FFC61E8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67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E6FB3-3B50-4DA4-97DE-ED125133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97377-2B24-4E00-B4C7-4187BC0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E46DC-CF90-4C1D-9358-F67F3CEA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956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424BD-6B55-405B-B8D6-E193502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=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F747D-B7BB-4879-AC4E-684E7C37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333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C2E4A-F986-4F1E-8B6B-3DD6D1F2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Debug layers emitted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FB4B3-8460-495E-A762-A6460F71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depo_field / sputter_raw_field / ion_factor_field / sputter_effective_field / net_growth_field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43ABD-4156-467D-B286-A43330CA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4333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A04BD4-ACC4-4DFE-958D-7C407C2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Excluded by 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9C4A9-BF09-4F54-9784-3EC88020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reflected ion, redeposition, microtrenching, full ray tracing, full ARDE transport solver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9DA35-98B2-4BA2-8E8A-6E320047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2C0E6D-C066-4585-BD5E-E212E643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Code path: compute_ion_transmission_factors() feeds effective_sputter only.</a:t>
            </a:r>
          </a:p>
        </p:txBody>
      </p:sp>
    </p:spTree>
    <p:extLst>
      <p:ext uri="{BB962C8B-B14F-4D97-AF65-F5344CB8AC3E}">
        <p14:creationId xmlns:p14="http://schemas.microsoft.com/office/powerpoint/2010/main" val="1604050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E09C0-F106-4CB3-894C-D37A5384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8868D-1210-49C3-9384-1E309E80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05 / RESULT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9F484-7A5D-4377-8628-882D2F86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Ion transmission weakens bottom and hidden sputter without rewriting Emulator 01.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5546B-E079-4DEF-B2C1-C35E4209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The visual difference is therefore attributable to ion_factor, not a rewritten direct sputter response.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ee84e146c4528"/>
          <a:stretch xmlns:a="http://schemas.openxmlformats.org/drawingml/2006/main"/>
        </p:blipFill>
        <p:spPr>
          <a:xfrm xmlns:a="http://schemas.openxmlformats.org/drawingml/2006/main">
            <a:off x="457200" y="1699022"/>
            <a:ext cx="7810500" cy="43934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D465F-9F0A-47E7-8D2B-D0202D82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0371D-B93B-4582-93B5-F8C7FF3A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240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M01 mean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9511D-4460-4696-9BBC-C0C1D14E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050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9.52s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52AA-671F-4D3D-8F52-82BA8C70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B1EBB-1CEC-4B02-8D79-2F1125FB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M02 mean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2C9E6-495C-4F2D-A042-4392630A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813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17.00s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52CE4-97AA-4A19-ACBF-D007405D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3A2D7-8995-49D4-BA5F-4058FF22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76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Observed overhead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0119C-9A93-4AB6-BDF0-B191F25D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576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78.6%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32DC7-2A8A-41C2-95BC-CBD9464D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3B784-081A-4665-9A01-19BEA8FE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529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Override delta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1FE2A-2EFD-408A-B6B2-F1A438FE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339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0.0e+0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0C7FB-7CFF-4F15-9DDF-EB137DE2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02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Performance read: override=1 runs at M01 speed; tuned M02 costs more because attenuated etch changes the evolving profile and cleanup path.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1DC8C-C152-477F-B80B-C308CCE0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A1D7C-F03F-42F6-B88E-3DA2CE9E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Measured on the current local code path; 18 cycles, stepped trench geometry.</a:t>
            </a:r>
          </a:p>
        </p:txBody>
      </p:sp>
    </p:spTree>
    <p:extLst>
      <p:ext uri="{BB962C8B-B14F-4D97-AF65-F5344CB8AC3E}">
        <p14:creationId xmlns:p14="http://schemas.microsoft.com/office/powerpoint/2010/main" val="1533168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8C2B94-4185-4794-B6A9-C67264CF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BC779-812F-4802-864B-80157159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06 / DEBUG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53285-F35B-4ACB-ACFB-22C812DF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The debug fields show the intended top-to-bottom attenuation and the raw/effective sputter split.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CA8BB-95BB-4D02-9AA5-1656A510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This is the main observability win for Emulator 02: model behavior is inspectable as fields, not just final geometry.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1b16e561a48f4"/>
          <a:stretch xmlns:a="http://schemas.openxmlformats.org/drawingml/2006/main"/>
        </p:blipFill>
        <p:spPr>
          <a:xfrm xmlns:a="http://schemas.openxmlformats.org/drawingml/2006/main">
            <a:off x="419100" y="2042815"/>
            <a:ext cx="5572125" cy="313432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15ba3f5fa4d38"/>
          <a:stretch xmlns:a="http://schemas.openxmlformats.org/drawingml/2006/main"/>
        </p:blipFill>
        <p:spPr>
          <a:xfrm xmlns:a="http://schemas.openxmlformats.org/drawingml/2006/main">
            <a:off x="6191250" y="2042815"/>
            <a:ext cx="5572125" cy="313432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E0CF1-D903-4D69-8B4C-E3F0A182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6ABE3-7372-4DB1-913A-3121B46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483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Top ion_factor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9A209-9349-44B4-B7DF-A591036D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293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0.920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37C60-537A-41F0-A3F6-C4ED07A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73405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B2E0F-01AD-4F52-B5A8-3C1291E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483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Mid ion_factor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DE24E-EEED-4C7A-BFA6-CA9C5E69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293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0.441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DB19C-7343-4AA5-9B5D-5D47E5F3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3405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AD737-004A-4BDA-9143-13CDAB8F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8483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Bottom ion_factor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EC795-51B1-4777-9052-A995492E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0293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rPr>
              <a:t>0.202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AB885-FEAA-4018-ADF6-F2A5CF3C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3405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ACAC7-FC6E-4CEA-BCD6-C8A38763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84835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Bottom effective/raw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85CE8-063C-4650-841C-34499A7B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02932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0.203</a:t>
            </a:r>
          </a:p>
        </p:txBody>
      </p:sp>
    </p:spTree>
    <p:extLst>
      <p:ext uri="{BB962C8B-B14F-4D97-AF65-F5344CB8AC3E}">
        <p14:creationId xmlns:p14="http://schemas.microsoft.com/office/powerpoint/2010/main" val="391625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F836EE-702A-4FCA-A37D-92377C41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0DE7A-35A6-458F-B056-6975A382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07 / USABILITY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4B044-6F0D-484D-AAE0-EEDC0272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Usability is strong for scientific exploration; performance is the only material caveat.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69358-945C-4975-93B2-2D70BCCC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The new grouping makes the model easier to reason about, and debug layers make mistakes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8A0EF-5EDB-41B9-A41D-B0EC75B5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7151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570D6-9C5D-46C9-B99F-17850D0C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Discoverability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82A7A-36EE-46DF-857B-B0D772BB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4.5 /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B80F2-71AA-4766-A208-C4B8CB9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Etch master switch plus model-number sections clarify ownership.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CDBCA-3B8F-4DB1-817C-DD70EE0E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92390-4DA1-48FB-9F0F-7A3A2D65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Adjustability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E05E2-D593-4E57-B6C4-82047BDD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574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4.5 /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20DC5-6D89-42BD-AAD8-BF48C07D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574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Depth curve is draggable; aperture/hidden/edge are separate sliders.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B444B-9511-4ED3-98A7-4FC6DFBD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6575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DE2DE-90AE-4AAC-92B1-89E8DB7E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Observability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63DF3-84D4-4E2B-A672-DE72BE54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5.0 /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E0434-777D-4334-B96D-0933EA10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raw, factor, effective, net fields are separable.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8D131-9911-4A39-8281-F5DC39B9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C1D73-77FE-45AB-B29D-CA31CE34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18C47-700F-4ABB-8258-B619E378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9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5.0 /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A0903-486F-47CD-9264-7A07B132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195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override=1 and zero sputter invariants hold exactly in tests.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1B2A9-DE11-45D1-ADEA-9397D2AB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50F07C-7F0E-44AA-BCF4-EB99C0C0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Performance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49E9A-C946-4A20-A872-E41D8DA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3.0 /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93B42-0DE7-4F73-B8EF-61603881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Full tuned runs are slower; preview deferral keeps toggles responsive.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CD2B8-960A-49C1-8D31-D09455BB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240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EB369F-799E-4224-A355-45D84097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240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4E9F23-01D7-4F75-8CD1-D096D52C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955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What became easier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6ABA5-89F9-4391-B33E-4D13C2B2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3812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Users can now tune depth attenuation without touching geometry shadowing, and can disable the whole etch branch with one control.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5A943D-E643-41FC-9862-4B5E299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290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7A730-8DA2-40DC-BD07-B8165764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290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0586BB-23DA-421A-9A97-0A82B0C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004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Remaining friction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93E5A3-44AD-463C-9428-4090D4F6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8620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The full tuned model currently spends more time in geometry evolution/cleanup. This should be optimized before broad parameter sweeps.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03E551-155F-4619-B603-3150017D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E07E7C-E4C2-47CF-AEF1-53B2B082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Heuristic evaluation based on current UI behavior, automated tests, and local run metrics.</a:t>
            </a:r>
          </a:p>
        </p:txBody>
      </p:sp>
    </p:spTree>
    <p:extLst>
      <p:ext uri="{BB962C8B-B14F-4D97-AF65-F5344CB8AC3E}">
        <p14:creationId xmlns:p14="http://schemas.microsoft.com/office/powerpoint/2010/main" val="537384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DD996B-0467-4462-8007-B1C3E094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52036-6AFB-4076-9895-A7B7DC82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08 / NEXT ITERATION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5D9B3-69A3-4710-B4FD-0E8C4194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Keep the current model boundary: improve speed and validation before adding new etch physics.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9F025-779A-48A6-BF25-491F4FC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The most valuable next work is calibration and sweep ergonomics, not reflected ions or redeposition in Emulator 02.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E6AC5-E2C6-46AA-AF15-5313FB0F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343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65C13-0B7F-4B0C-A6BB-FCA4879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DEBB6-34E1-4D18-9F35-B2224BB6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9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0C470-6770-4840-A973-64CB139F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Lock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E8336-1C3E-4938-B916-CD91ACC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Etch switch gates the whole branch; deposition stays independent.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5A180-7C91-47CE-BB02-C74B8AC7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343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06B19-8669-444A-AFC1-FE17E2ED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7D121-5C59-4A2B-A812-A91D7602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9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EA0D1-840E-4A6C-8076-FC331CE7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Speed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93655-4D2C-4DB1-8A61-80AD1A4A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Profile/cleanup cost should be profiled on tuned M02 sweeps.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06F10-D4FD-4DBD-B674-E4381BF9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343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D00F5-F977-41ED-832A-E49BED14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899CD-7A5C-4824-8D31-6754247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9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5B5BA-7D08-4931-8DDD-2E0BF274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Calibration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19F77-B83D-43CD-8EEC-5F6030C7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Fit depth curve and geometry sliders to SEM or trusted simulator profiles.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B644B-88BC-4481-9928-C21B97F2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343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FC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EE99C-D2EC-44EF-BC28-182875E7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241D-D353-4CB9-867A-52B01C3C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9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9C98D-6DEE-4C5B-A225-9E01C318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4213D"/>
                </a:solidFill>
                <a:latin typeface="Apple SD Gothic Neo"/>
                <a:ea typeface="Apple SD Gothic Neo"/>
                <a:cs typeface="Apple SD Gothic Neo"/>
              </a:rPr>
              <a:t>Reporting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C78AA8-61B9-47D9-BE9A-84495AD4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813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Persist debug-field summaries with every split/compare run.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53D66-9561-43C8-A99A-C4154785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DD8C39-96AB-4A76-94B4-DC711077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Do not mix into Emulator 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1CBF3-0850-4C55-A1FC-A6BE5179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reflected ion, redeposition, microtrenching, full ray tracing, diffusion attenuation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DE0F9E-7F5C-49CF-9EE3-154DDDBF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90371-B348-4181-8840-66EBA652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Keep in Emulator 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03782-C660-4C66-ADF1-578FF1D5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current sputter_raw × ion_factor, depth curve controls, independent geometry shadow sliders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F9E1E3-A7D4-4185-8DD5-84016429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2"/>
          </a:solidFill>
          <a:ln xmlns:a="http://schemas.openxmlformats.org/drawingml/2006/main" w="0">
            <a:solidFill>
              <a:srgbClr val="D8CFC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408E84-8716-4B03-BF42-ACAED2D0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Recommended next milestone: benchmark parameter sweeps after profiling the geometry cleanup cost.</a:t>
            </a:r>
          </a:p>
        </p:txBody>
      </p:sp>
    </p:spTree>
    <p:extLst>
      <p:ext uri="{BB962C8B-B14F-4D97-AF65-F5344CB8AC3E}">
        <p14:creationId xmlns:p14="http://schemas.microsoft.com/office/powerpoint/2010/main" val="604919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2026-05-05T04:46:42.6320000Z</dcterms:created>
  <dcterms:modified xsi:type="dcterms:W3CDTF">2026-05-05T04:46:42.6330000Z</dcterms:modified>
</coreProperties>
</file>