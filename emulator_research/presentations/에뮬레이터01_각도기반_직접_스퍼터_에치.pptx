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c980972a3048f2" /><Relationship Type="http://schemas.openxmlformats.org/officeDocument/2006/relationships/extended-properties" Target="/docProps/app.xml" Id="R8fab8ae6358f4f98" /><Relationship Type="http://schemas.openxmlformats.org/officeDocument/2006/relationships/officeDocument" Target="/ppt/presentation.xml" Id="R2b9f0eb8331d4f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a86e2202554502"/>
  </p:sldMasterIdLst>
  <p:notesMasterIdLst>
    <p:notesMasterId xmlns:r="http://schemas.openxmlformats.org/officeDocument/2006/relationships" r:id="Rdf6226a9eeda41d1"/>
  </p:notesMasterIdLst>
  <p:sldIdLst>
    <p:sldId xmlns:r="http://schemas.openxmlformats.org/officeDocument/2006/relationships" id="256" r:id="R324c9a033ec044b9"/>
    <p:sldId xmlns:r="http://schemas.openxmlformats.org/officeDocument/2006/relationships" id="257" r:id="Rb5c7f75dc5e74850"/>
    <p:sldId xmlns:r="http://schemas.openxmlformats.org/officeDocument/2006/relationships" id="258" r:id="Rac92f55d79e74881"/>
    <p:sldId xmlns:r="http://schemas.openxmlformats.org/officeDocument/2006/relationships" id="259" r:id="R45340e499ac94f24"/>
    <p:sldId xmlns:r="http://schemas.openxmlformats.org/officeDocument/2006/relationships" id="260" r:id="R07dc55c81d5340c3"/>
    <p:sldId xmlns:r="http://schemas.openxmlformats.org/officeDocument/2006/relationships" id="261" r:id="R96ea12a3762f403b"/>
    <p:sldId xmlns:r="http://schemas.openxmlformats.org/officeDocument/2006/relationships" id="262" r:id="R474ad2d6c3dd4372"/>
    <p:sldId xmlns:r="http://schemas.openxmlformats.org/officeDocument/2006/relationships" id="263" r:id="R7b472d8a3f1d4e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86e2202554502" /><Relationship Type="http://schemas.openxmlformats.org/officeDocument/2006/relationships/theme" Target="/ppt/theme/theme1.xml" Id="R7228b23248ce4ec6" /><Relationship Type="http://schemas.openxmlformats.org/officeDocument/2006/relationships/notesMaster" Target="/ppt/notesMasters/notesMaster1.xml" Id="Rdf6226a9eeda41d1" /><Relationship Type="http://schemas.openxmlformats.org/officeDocument/2006/relationships/presProps" Target="/ppt/presProps.xml" Id="R67f525e3bcff4753" /><Relationship Type="http://schemas.openxmlformats.org/officeDocument/2006/relationships/viewProps" Target="/ppt/viewProps.xml" Id="R5e1c9a5d398044a5" /><Relationship Type="http://schemas.openxmlformats.org/officeDocument/2006/relationships/tableStyles" Target="/ppt/tableStyles.xml" Id="Re3534b581c4a4088" /><Relationship Type="http://schemas.openxmlformats.org/officeDocument/2006/relationships/slide" Target="/ppt/slides/slide1.xml" Id="R324c9a033ec044b9" /><Relationship Type="http://schemas.openxmlformats.org/officeDocument/2006/relationships/slide" Target="/ppt/slides/slide2.xml" Id="Rb5c7f75dc5e74850" /><Relationship Type="http://schemas.openxmlformats.org/officeDocument/2006/relationships/slide" Target="/ppt/slides/slide3.xml" Id="Rac92f55d79e74881" /><Relationship Type="http://schemas.openxmlformats.org/officeDocument/2006/relationships/slide" Target="/ppt/slides/slide4.xml" Id="R45340e499ac94f24" /><Relationship Type="http://schemas.openxmlformats.org/officeDocument/2006/relationships/slide" Target="/ppt/slides/slide5.xml" Id="R07dc55c81d5340c3" /><Relationship Type="http://schemas.openxmlformats.org/officeDocument/2006/relationships/slide" Target="/ppt/slides/slide6.xml" Id="R96ea12a3762f403b" /><Relationship Type="http://schemas.openxmlformats.org/officeDocument/2006/relationships/slide" Target="/ppt/slides/slide7.xml" Id="R474ad2d6c3dd4372" /><Relationship Type="http://schemas.openxmlformats.org/officeDocument/2006/relationships/slide" Target="/ppt/slides/slide8.xml" Id="R7b472d8a3f1d4e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8a38423d2bd45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31b388503d4a06" /><Relationship Type="http://schemas.openxmlformats.org/officeDocument/2006/relationships/notesMaster" Target="/ppt/notesMasters/notesMaster1.xml" Id="Rbac45a529da543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1d1a7dc3924aae" /><Relationship Type="http://schemas.openxmlformats.org/officeDocument/2006/relationships/notesMaster" Target="/ppt/notesMasters/notesMaster1.xml" Id="R51ba62f6a3ba4d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c95687833546b3" /><Relationship Type="http://schemas.openxmlformats.org/officeDocument/2006/relationships/notesMaster" Target="/ppt/notesMasters/notesMaster1.xml" Id="R87a03385088544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5a08d34bc84fc4" /><Relationship Type="http://schemas.openxmlformats.org/officeDocument/2006/relationships/notesMaster" Target="/ppt/notesMasters/notesMaster1.xml" Id="R1317a17e405345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24eef08f4541a7" /><Relationship Type="http://schemas.openxmlformats.org/officeDocument/2006/relationships/notesMaster" Target="/ppt/notesMasters/notesMaster1.xml" Id="R75d59555a68c40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b81cca313341d4" /><Relationship Type="http://schemas.openxmlformats.org/officeDocument/2006/relationships/notesMaster" Target="/ppt/notesMasters/notesMaster1.xml" Id="Ra34960e7fdf149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d3fa3a69b84c32" /><Relationship Type="http://schemas.openxmlformats.org/officeDocument/2006/relationships/notesMaster" Target="/ppt/notesMasters/notesMaster1.xml" Id="R3431c95a1def48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2b255071c0452f" /><Relationship Type="http://schemas.openxmlformats.org/officeDocument/2006/relationships/notesMaster" Target="/ppt/notesMasters/notesMaster1.xml" Id="Rbc4a57e7252540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8a4189d6d477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4d7fb4adb4443d9" /><Relationship Type="http://schemas.openxmlformats.org/officeDocument/2006/relationships/slideLayout" Target="/ppt/slideLayouts/slideLayout2.xml" Id="R5a32c93767a74a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32c93767a74a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cc18af488f47a7" /><Relationship Type="http://schemas.openxmlformats.org/officeDocument/2006/relationships/image" Target="/ppt/media/image.png" Id="Rf649b80cbcf14bf6" /><Relationship Type="http://schemas.openxmlformats.org/officeDocument/2006/relationships/notesSlide" Target="/ppt/notesSlides/notesSlide1.xml" Id="R55e56db64dc440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3240f57e8d4344" /><Relationship Type="http://schemas.openxmlformats.org/officeDocument/2006/relationships/image" Target="/ppt/media/image2.png" Id="R4a54041cde734605" /><Relationship Type="http://schemas.openxmlformats.org/officeDocument/2006/relationships/image" Target="/ppt/media/image3.png" Id="R919e1fa4a48c451f" /><Relationship Type="http://schemas.openxmlformats.org/officeDocument/2006/relationships/image" Target="/ppt/media/image4.png" Id="R8aa64edd6775460c" /><Relationship Type="http://schemas.openxmlformats.org/officeDocument/2006/relationships/notesSlide" Target="/ppt/notesSlides/notesSlide2.xml" Id="R2a0d1720bb7542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2be971b49546c4" /><Relationship Type="http://schemas.openxmlformats.org/officeDocument/2006/relationships/image" Target="/ppt/media/image5.png" Id="R38d96b99b39444dd" /><Relationship Type="http://schemas.openxmlformats.org/officeDocument/2006/relationships/notesSlide" Target="/ppt/notesSlides/notesSlide3.xml" Id="Rc97ea0db21764a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f47671652f483a" /><Relationship Type="http://schemas.openxmlformats.org/officeDocument/2006/relationships/image" Target="/ppt/media/image6.png" Id="Rc4d473a5d4514266" /><Relationship Type="http://schemas.openxmlformats.org/officeDocument/2006/relationships/notesSlide" Target="/ppt/notesSlides/notesSlide4.xml" Id="R70242eee255643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33047fc6164e2d" /><Relationship Type="http://schemas.openxmlformats.org/officeDocument/2006/relationships/notesSlide" Target="/ppt/notesSlides/notesSlide5.xml" Id="R196bfe4415b047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034074bcf84038" /><Relationship Type="http://schemas.openxmlformats.org/officeDocument/2006/relationships/image" Target="/ppt/media/image7.png" Id="R3d3e1137c2be4220" /><Relationship Type="http://schemas.openxmlformats.org/officeDocument/2006/relationships/notesSlide" Target="/ppt/notesSlides/notesSlide6.xml" Id="Rea9152d5d9c14f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cabf67207f4816" /><Relationship Type="http://schemas.openxmlformats.org/officeDocument/2006/relationships/image" Target="/ppt/media/image8.png" Id="Re75141babc364441" /><Relationship Type="http://schemas.openxmlformats.org/officeDocument/2006/relationships/notesSlide" Target="/ppt/notesSlides/notesSlide7.xml" Id="Rddb914435df14b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539ee20e3349d8" /><Relationship Type="http://schemas.openxmlformats.org/officeDocument/2006/relationships/image" Target="/ppt/media/image9.png" Id="R3a5558c0181e4b22" /><Relationship Type="http://schemas.openxmlformats.org/officeDocument/2006/relationships/notesSlide" Target="/ppt/notesSlides/notesSlide8.xml" Id="R43261e88b71c4b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4C09A2-46DA-4F76-AB33-DB7EB23A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5A4E4CD3-50F2-4042-A572-9CA96304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A0423782-8A9B-4199-AB81-BE364969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EMULATOR 01 / VISUAL RESEARCH 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7359B-C490-4785-BDEB-FDDF547A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각도기반 직접 스퍼터 에치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629C3-1F6C-4761-9682-0B6D7C28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581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이제 1번 PPT는 실제 미니 에뮬레이터 화면을 중심 증거로 사용한다.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1332B-58A7-4FFC-B25A-9880EA22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75247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9b80cbcf14bf6"/>
          <a:stretch xmlns:a="http://schemas.openxmlformats.org/drawingml/2006/main"/>
        </p:blipFill>
        <p:spPr>
          <a:xfrm xmlns:a="http://schemas.openxmlformats.org/drawingml/2006/main">
            <a:off x="1493653" y="2114550"/>
            <a:ext cx="5642344" cy="3790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C5EBC-D889-45F3-942A-24AB79A5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667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6CB84-F15B-4FDB-8F36-6B46DBBB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대표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44992-924E-44AB-B01F-013BAAD0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4748E-74F9-4FF6-B127-94BE82DB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73731-9054-4D16-B84C-1CDF6577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860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DEPO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41BD9-4DAA-4967-80AB-CB2D8EA5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10 A/CYC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B7700-28BC-40E7-9826-0AFEAB7B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290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C8AA8-456A-4BF9-A525-0BAE5FA5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290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D02B8-CC70-4CC0-8539-F14E0868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337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ETCH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09CD3-468C-46C9-B21B-01A65551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95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18 A/CYC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DDBC4-3085-445A-B2BB-FB7ED90C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767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E367E8-E858-455D-B325-FDE240A3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76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CB35C-9F8E-4E70-8960-174B7E2F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814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PEAK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D741D-85AC-4558-91AC-631BD35F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434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55 deg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8CDE6-26EB-406A-9C27-F9F8E5F4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9650"/>
            <a:ext cx="2647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목표는 plasma 전체 모델이 아니라, oblique angle yield가 top corner와 sloped sidewall 형상에 주는 1차 효과를 빠르게 보는 것이다.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52A8DB-A648-40CD-95FA-8788F8E1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483C3-304B-4B9B-941B-E012B519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Actual GapSim mini-emulator captures; local run generated 2026-05-04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B43EF-92B3-40E3-BAA0-1318DA0D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44510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3831EB-0CA5-4578-A554-D2A78D90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738A5A6C-59AD-46CA-BA4F-C270E945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CBA3E58A-8D3D-48DE-BE8E-925FBAF6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ACTUAL PROFILE CAPTURES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D4CD8-D581-4A5A-999C-70A422E6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같은 trench에서 depo-only, sputter-on, pure etch를 직접 비교한다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4FC56-D4E6-4F24-908F-36D62040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28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아래 세 이미지는 설명용 도식이 아니라 `ResultVectorView`를 그대로 렌더한 실제 에뮬레이터 결과다.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78384-B0F0-4D61-AA09-C540BAEE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429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68812-4A9B-4243-9F86-87309334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3429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C04D2-9002-4645-ADE9-9C90FE30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3429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4041cde734605"/>
          <a:stretch xmlns:a="http://schemas.openxmlformats.org/drawingml/2006/main"/>
        </p:blipFill>
        <p:spPr>
          <a:xfrm xmlns:a="http://schemas.openxmlformats.org/drawingml/2006/main">
            <a:off x="628650" y="2278224"/>
            <a:ext cx="3276600" cy="2072951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e1fa4a48c451f"/>
          <a:stretch xmlns:a="http://schemas.openxmlformats.org/drawingml/2006/main"/>
        </p:blipFill>
        <p:spPr>
          <a:xfrm xmlns:a="http://schemas.openxmlformats.org/drawingml/2006/main">
            <a:off x="4438650" y="2278224"/>
            <a:ext cx="3276600" cy="2072951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64edd6775460c"/>
          <a:stretch xmlns:a="http://schemas.openxmlformats.org/drawingml/2006/main"/>
        </p:blipFill>
        <p:spPr>
          <a:xfrm xmlns:a="http://schemas.openxmlformats.org/drawingml/2006/main">
            <a:off x="8248650" y="2278224"/>
            <a:ext cx="3276600" cy="207295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13E19-2B96-490D-BFD5-C8D070E7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B4714-ABB7-48A0-B3D2-9C410038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Conformal-only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D8DBA-25ED-4F10-982F-B4A15ABE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층이 cycle마다 파란색으로 누적되고 최신 layer가 더 진해진다.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224B0-46F7-4313-80A0-5A789169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292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D20A9-EA1D-41E5-B95B-7A129321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Direct sputter 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D0B4A-0021-4A68-9975-B65B4CB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197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etch &gt; depo 조건에서는 사라진 material이 흐리게 처리되고 최종 profile이 강조된다.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9EAD3-1AE1-4E51-A7B8-959CCF61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292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8E632-82F9-41ED-8DCF-328DBB53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Depo = 0 pure etch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CFCC90-4BBF-4A70-8596-1F55BCB9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deposition 없이도 angle response만으로 후퇴 profile을 확인한다.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D3E84-568A-47C9-B53C-BC0B84F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61B334-07AF-4A8D-AC1B-653143CC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Actual GapSim mini-emulator captures; local run generated 2026-05-04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1EBC3-AF7E-4EFF-A524-CA2F35A1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95117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BBE326-DE9A-4A28-ADB2-2988F668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A0B28AED-5B82-4AE0-B211-97BFC1B9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790BCF55-60E5-414E-8F27-4387D6E5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SPLIT TEST / STRENGTH SWEEP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1CC9F-E728-4D27-98F4-01E228D3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sputter strength sweep는 한 화면에서 geometry 변화를 바로 드러낸다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F979C-706E-4528-AD8F-CFC7FC8D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900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Etch A/CYC = 0, 8, 16, 24를 같은 viewport로 동기화해 비교했다. strength가 커질수록 corner erosion과 sloped-sidewall 변화가 커진다.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D6782-0B33-4D36-BBAD-643E2B6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86677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96b99b39444dd"/>
          <a:stretch xmlns:a="http://schemas.openxmlformats.org/drawingml/2006/main"/>
        </p:blipFill>
        <p:spPr>
          <a:xfrm xmlns:a="http://schemas.openxmlformats.org/drawingml/2006/main">
            <a:off x="1852502" y="1905000"/>
            <a:ext cx="6067647" cy="4076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08576-D08F-48C0-8C2D-5E61C1BE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00250"/>
            <a:ext cx="15621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6D379-261C-431B-B657-EB7F070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읽는 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C61CE-1748-4BD9-A63E-DF2D1D48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19400"/>
            <a:ext cx="10668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rPr>
              <a:t>1. 같은 frame</a:t>
            </a:r>
          </a:p>
          <a:p xmlns:a="http://schemas.openxmlformats.org/drawingml/2006/main">
            <a:pPr algn="l">
              <a:defRPr sz="112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rPr>
              <a:t>2. 같은 trench</a:t>
            </a:r>
          </a:p>
          <a:p xmlns:a="http://schemas.openxmlformats.org/drawingml/2006/main">
            <a:pPr algn="l">
              <a:defRPr sz="112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rPr>
              <a:t>3. 같은 peak angle</a:t>
            </a:r>
          </a:p>
          <a:p xmlns:a="http://schemas.openxmlformats.org/drawingml/2006/main">
            <a:pPr algn="l">
              <a:defRPr sz="112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rPr>
              <a:t>4. etch strength만 변화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rPr>
              <a:t>이 화면이 앞으로 parameter split의 기본 증거 이미지가 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94D0C-DE3B-4820-8A1D-76264883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12FFA-B26E-4FF3-A6D1-8F76FDA7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Actual GapSim mini-emulator captures; local run generated 2026-05-04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5FE88-7FA9-4027-B5BC-24890463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81070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E524DE-1E0E-4E1A-A9BC-2C69682D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175B649D-33FC-4FE8-A251-2A30DDA1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9BFE40AA-CFDD-47EC-A6D1-D859762F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MINI MODEL VS GAPSIM ANGLE-ONLY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38E4A-E800-4D1A-B06C-A71F74C0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기존 GapSim angle-only와 나란히 보면</a:t>
            </a:r>
          </a:p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미니 모델의 부드러움이 바로 보인다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CA153-C6D1-4CBB-A06C-FB50539A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82867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473a5d4514266"/>
          <a:stretch xmlns:a="http://schemas.openxmlformats.org/drawingml/2006/main"/>
        </p:blipFill>
        <p:spPr>
          <a:xfrm xmlns:a="http://schemas.openxmlformats.org/drawingml/2006/main">
            <a:off x="1292225" y="1885950"/>
            <a:ext cx="6807200" cy="3829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5A303-C222-42BE-9B46-B1DC4BF7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20002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BAD1A-EBF9-47B4-999E-27213A81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차이가 나는 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BE2D0-4534-45A3-99A8-867EB94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908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AA5EE-E783-4477-B776-665F725D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05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normal smoothing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30157-2156-4F7E-B23F-1CC85F07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337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rPr>
              <a:t>자글거림 억제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D43DD-AB93-46B9-95CC-1757817E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CC822-8047-49FC-B463-F5360661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90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82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982E"/>
                </a:solidFill>
                <a:latin typeface="Avenir Next"/>
                <a:ea typeface="Avenir Next"/>
                <a:cs typeface="Avenir Next"/>
              </a:rPr>
              <a:t>boolean offset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260F2-88EA-4F90-B1DC-117B7362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195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rPr>
              <a:t>corner rounding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DD64F-2C68-416A-A5DE-DAC58392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624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2D2BF-DF89-4343-8F86-14FDBA53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76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Gaussian width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48411-E0AE-4F60-B746-A97754E2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rPr>
              <a:t>peak 폭 완화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0E384-EBE8-4954-BE99-B962F415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482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6283A-B52F-42B9-8A25-8D0D63A2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62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substep cap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15ECF-5B7D-4331-A46F-8F32469E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911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DDE6EA"/>
                </a:solidFill>
                <a:latin typeface="Apple SD Gothic Neo"/>
                <a:ea typeface="Apple SD Gothic Neo"/>
                <a:cs typeface="Apple SD Gothic Neo"/>
              </a:rPr>
              <a:t>큰 etch 안정화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5F9204-2C67-44B8-B0D7-3110E24E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B5613-4171-4441-8AA1-6A6196D4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Actual GapSim mini-emulator captures; local run generated 2026-05-04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91194C-EF94-4313-AEC7-2A842453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04162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54D1A6-AE4F-4D00-8AD3-B6F42C88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5EB194EA-FC00-44AD-A4E6-10C0328D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F087BFBD-36B4-4F20-8064-93DD711E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LITERATURE ANCHOR / ANGULAR YIELD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058BA-174D-4D42-943A-1C64314A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oblique angle에서 sputter yield가 커지는 흐름은</a:t>
            </a:r>
          </a:p>
          <a:p xmlns:a="http://schemas.openxmlformats.org/drawingml/2006/main">
            <a:pPr algn="l">
              <a:defRPr sz="217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문헌 기반 가정으로 두고, 미니 모델은 조절 가능한 response만 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40D7C-4C3B-4BCB-B659-AD2B0539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C5BCE-1717-4C18-B39F-8372B600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2CB8C-7472-409E-9908-28039C70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1DB36-612D-4824-81E7-58CE549C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62C48-193E-45B8-B2C0-EA04D2AC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750" y="23431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AF2F3-06E3-4AEB-A231-90F7E450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300" y="4648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30°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14395-F1E9-4FCE-A229-6E3F1BE8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167" y="23431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CA5A6-6A37-4D88-9FEF-9C4FC5A6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717" y="4648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55°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F5EE9-9852-48B3-BF6C-13C644C4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DF155-84AA-46C2-B92E-7E7B2C92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48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90°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3542D-18A0-473B-8430-37185119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F7537-FA51-4E92-89BF-46BF91C6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148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D3BB5-A812-4A10-B099-3148A458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850" y="45148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59EA0-B8A9-460D-AB1A-1CAE8AB3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148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19220-D5E9-4F19-881C-0FB03FE7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550" y="4514307"/>
            <a:ext cx="76200" cy="195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78605-BA46-4387-9A01-1F690D43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400" y="4496920"/>
            <a:ext cx="76200" cy="369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C84FA-5F75-4041-BF42-502379BD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67237"/>
            <a:ext cx="76200" cy="66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27D5BC-F0D6-48CF-896C-0EB50866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4419120"/>
            <a:ext cx="76200" cy="11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FBDF9-732E-4AE1-A29A-8BBAA203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950" y="4345141"/>
            <a:ext cx="76200" cy="188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509344-A6FB-461E-B5C5-DCAD76DD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37414"/>
            <a:ext cx="76200" cy="296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A1EF4F-DAE9-4398-8681-C7863F58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650" y="4089106"/>
            <a:ext cx="76200" cy="444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B4BFB6-C406-4A33-A265-895C34ED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3896559"/>
            <a:ext cx="76200" cy="63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73F6FE-C948-47EB-B6A4-A0CC962D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61646"/>
            <a:ext cx="76200" cy="8722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448607-C3ED-4DCA-8EBB-B842DAA2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0" y="3393724"/>
            <a:ext cx="76200" cy="1140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B45867-E6A4-4A1B-B9A1-D3DB39C5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050" y="3110396"/>
            <a:ext cx="76200" cy="142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FBD25F-7BFE-4382-8F31-C6C0BA1A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36425"/>
            <a:ext cx="76200" cy="169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D7C13C-4F05-40BC-8F46-01124738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750" y="2600570"/>
            <a:ext cx="76200" cy="1933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8111E7-1175-45C0-AED1-AAAE25C5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430768"/>
            <a:ext cx="76200" cy="21031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92449E-3806-4276-BBEB-4385B08E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8732"/>
            <a:ext cx="76200" cy="2185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9831CA-32B2-4F19-8586-054D25D5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365391"/>
            <a:ext cx="76200" cy="2168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487329-D513-455F-AB5C-18378382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150" y="2478504"/>
            <a:ext cx="76200" cy="20553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1AB649-4CF8-43BF-BE6A-60901F5D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73152"/>
            <a:ext cx="76200" cy="1860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1732B6-3E1E-4B62-9C84-7B828337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850" y="2924968"/>
            <a:ext cx="76200" cy="16089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CF5737-7B22-4166-8DFB-D8A6FDB9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0" y="3205143"/>
            <a:ext cx="76200" cy="13287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32B0CE-F987-4C77-915E-92CDAC9E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85779"/>
            <a:ext cx="76200" cy="10481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564706-5CFA-4C10-9F3A-3EFEBDB2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744249"/>
            <a:ext cx="76200" cy="78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5312D8-70EB-4821-9D42-1D4153BA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0" y="3965680"/>
            <a:ext cx="76200" cy="568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3A609F-3382-4B8D-B92D-6DC41460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43368"/>
            <a:ext cx="76200" cy="390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02F3CA-06E6-47C5-A7DE-C9AE7412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950" y="4277538"/>
            <a:ext cx="76200" cy="2563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B73C88-1609-40E7-B128-BE7F1C10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800" y="4373165"/>
            <a:ext cx="76200" cy="160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38395C-DB9F-4465-9E33-8C29F10A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37645"/>
            <a:ext cx="76200" cy="962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D86465-C490-4DAB-93FA-774323D8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812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rPr>
              <a:t>미니 모델 Gaussian angle_response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D3C70E-CD71-47B1-B689-84F33533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incident angle from air-side normal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8E2AD1-F3E0-48BB-98D3-0348F452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429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38073C-0527-4481-9559-5A98BCF1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문헌을 쓰는 방식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338F26-DEC0-47B6-8526-5EE3259A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논문 figure를 그대로 베끼지 않고, angle-yield 물리 방향성만 현재 모델의 설정값과 비교한다.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7D327A-D66E-40DD-A2AD-E4AF4902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1353FD-7281-4453-AB45-EDAD0473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Sigmund, Phys. Rev. 1969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F25208-3554-4A19-9D4B-31D6C588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95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99DCC1-1E55-4C44-B4C4-5BB43B91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Yamamura et al., IPPJ-AM-26, 1983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A0408A-E0BB-47CC-B395-AE703007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A1E2D1-0456-4678-849F-A4B483FC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Wei et al., J. Phys. D 2008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7789AD-2ABD-4F37-B1A1-94C06915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CC9C14-6938-4072-A7DD-F032D11C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Literature context: Sigmund 1969; Yamamura et al. 1983; Wei et al. 2008. Chart is recreated for the mini model.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C3A62C-F506-4A20-8C22-0B31F6D7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71046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0C9EC8-C3DF-428D-9B6E-0EA8B261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598B1A67-72C3-4432-A0C9-D405106A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13873472-C19C-4C3E-971C-2B8391D3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IMPLEMENTATION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F3324-10BA-4226-A7E5-4D747180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실제 캡처는 계산 루프와 연결되어야 다음 디버깅이 빨라진다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71017-C8C9-4EE7-B330-9608775C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46291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e1137c2be4220"/>
          <a:stretch xmlns:a="http://schemas.openxmlformats.org/drawingml/2006/main"/>
        </p:blipFill>
        <p:spPr>
          <a:xfrm xmlns:a="http://schemas.openxmlformats.org/drawingml/2006/main">
            <a:off x="647700" y="1996362"/>
            <a:ext cx="4438650" cy="280812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E2BAE-1B06-4F1F-B195-94133EB9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46675-9069-499B-BC85-64AEFC11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11112-D97D-467B-ACE2-70F10AA7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288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A2684-F1A4-4B00-BA3A-4C39B8A2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offset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46D42-8218-4814-B7EC-946C5246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conformal normal growth 먼저 적용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DF8B5-1F7E-43C5-A355-58D66D66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75AEA-3EC7-4F65-84FD-92A97B7C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40037-8895-4EB2-9A3C-934F9D16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288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46461-8C6B-4D36-8E29-6A929EBA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angle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CB81A-34E9-465B-B7CC-D8E05566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air-side normal과 ion 방향으로 incidence 계산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BAF5D-0B5E-4453-B6FC-2C640646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528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E868D-B558-4469-82CE-EEF3DE4B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F0CD7-EDE3-4189-B2C6-CDB4A985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71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4434C-5CE1-4757-862E-A562E66C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42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etch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CE65F-7FFB-477D-99C8-6981C920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strength × response만큼 반대 방향 이동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E875E8-1933-4CE8-AD45-515951A5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528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79B360-2D00-48FC-A8CC-EBDA1CEB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D9E832-8FDD-4944-8E2B-DC9254D6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23FB16-6CD9-4B1C-A124-79363D1A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cleanup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E32CC-86ED-4061-95AF-18DE1011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substep, smoothing, topology cleanup 후 frame 저장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CB914D-7130-4BC7-981E-11AC65E3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C30DF5-2DD9-488C-8E1D-C7681C80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7CF7E1-CE37-4625-99CF-35C0E687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766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842000-34FA-44E6-8230-FBA45C1F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340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3E3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D649A4-D14B-4BA9-B87C-1460B0CF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67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PPT에 넣는 이미지는 이 루프의 산출물이어야 한다. 임의 도식은 보조 설명으로만 쓴다.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868A96-F94F-4FFF-8EEE-EE05DF38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D7D8B6-4CCD-4F62-9F84-B1504BDB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Actual GapSim mini-emulator captures; local run generated 2026-05-04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72FEA7-20FC-42C7-B6F2-73E460F7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610569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5A5E00-6ABD-4886-9120-F48B432F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D885D8F0-0B96-4E90-93B5-54914ED0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96964586-EF43-4285-A795-AEACAD5B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VISUAL LOGGING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DC66E-776C-4A89-9FF3-A3871A3E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앞으로 1번 에뮬레이터 업데이트는</a:t>
            </a:r>
          </a:p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이미지 1개 이상을 슬라이드의 중심에 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B10A9-8810-48D9-84E3-316F7A14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40576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141babc364441"/>
          <a:stretch xmlns:a="http://schemas.openxmlformats.org/drawingml/2006/main"/>
        </p:blipFill>
        <p:spPr>
          <a:xfrm xmlns:a="http://schemas.openxmlformats.org/drawingml/2006/main">
            <a:off x="871205" y="2000250"/>
            <a:ext cx="3572540" cy="2400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AB174-BEA0-4F68-A679-DDF605B5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5740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8B6BC-9ED0-4E27-A71E-D192A2D6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621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run 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9E0FE-15D1-41A5-87C5-1856536F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최종 profile 또는 split screenshot을 반드시 포함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3549C-88DE-479A-A699-00F1294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765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6703E-4B4B-4397-B12D-414C46AC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parameter 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4B2DF-147C-4CBE-B6EE-CF784C84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cycles, depo A/CYC, etch A/CYC, peak, width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56F43-F00E-4B77-A789-47B856C3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9570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E187A-138A-44F9-9A0E-32F4E87D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7C79C-1259-4CB7-B774-A35D45B3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052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이미지에서 실제로 보이는 geometry 변화만 해석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8865A-B954-41ED-AAA9-C651209E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148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FE3CF2-DD4B-4F5A-AC25-31238CB6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source note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79D9F-1746-4CBE-A962-02EC9199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논문/공식자료가 있으면 DOI 또는 URL 남김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1A2DF-48C6-4E78-93C8-89D9AA4C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1E9"/>
          </a:solidFill>
          <a:ln xmlns:a="http://schemas.openxmlformats.org/drawingml/2006/main" w="9525">
            <a:solidFill>
              <a:srgbClr val="E7C7B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C3713-E5AA-4D85-8D4E-E5FDBAC9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5A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5A3B"/>
                </a:solidFill>
                <a:latin typeface="Apple SD Gothic Neo"/>
                <a:ea typeface="Apple SD Gothic Neo"/>
                <a:cs typeface="Apple SD Gothic Neo"/>
              </a:rPr>
              <a:t>적용 결과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81335-D767-4F39-B19E-E53CE4AF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625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이번 PPT는 6개의 실제 에뮬레이터 캡처 이미지를 사용했고, 논문 figure는 복제하지 않고 angle-response 도식만 재구성했다.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3CB1A-C197-4FDB-A3C9-50D11CE9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9C17C3-EC09-429B-94A2-353C76E3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Actual GapSim mini-emulator captures; local run generated 2026-05-04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2E537-0BB7-4342-B27D-A49B26A6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82208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EA214-AFE3-4215-824B-9CB4B5EE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0651D755-F793-4DAA-B44F-09BBE1D6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9D6D1A1E-C8C2-4BFB-B11A-2BD60F2A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NEXT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96335-ADFF-4DE0-A78D-45757B4E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다음 업데이트는 sharp facet과 pure etch 안정성을</a:t>
            </a:r>
          </a:p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이미지로 먼저 검증한다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1A26F-1B13-4654-834F-A7F2DFD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51435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558c0181e4b22"/>
          <a:stretch xmlns:a="http://schemas.openxmlformats.org/drawingml/2006/main"/>
        </p:blipFill>
        <p:spPr>
          <a:xfrm xmlns:a="http://schemas.openxmlformats.org/drawingml/2006/main">
            <a:off x="1085543" y="1962150"/>
            <a:ext cx="4305915" cy="2724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413FA-CDF8-4161-8D25-8921CBC6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CE93C-C58A-4C23-9213-92E60865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3DE5A-430B-4F79-89DD-033CDFA4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163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Smooth A sweep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EC1BD-8755-4DE7-B6D1-52198B15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57425"/>
            <a:ext cx="321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40 A -&gt; 20 A -&gt; 5 A로 낮추며 faceting과 자글거림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51951-837D-4447-9867-E153EE74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051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5716F-24F0-426E-AA62-9F165FEE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051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80948-FA18-4D1D-AE01-7180F9EA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00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163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Peak angle sweep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5B492-6FD9-40A3-A7DA-74AE30DC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321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35/55/70 deg에서 strongest erosion 위치 이동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2D777-E909-471A-B47C-C16BC586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4805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8A093-1C63-4752-8B90-D500FBF7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480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4A0A1-098B-4882-AF50-2DC8D5EF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433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163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Depo=0 pure etch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0C92A-BBF2-4594-9C7E-A40790C5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43325"/>
            <a:ext cx="321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deposition 없이도 매끈한 후퇴면 유지되는지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448FC-DDEB-4EBB-A063-418F599B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8429F2-BF9C-4B26-988B-0986A130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5C962-026E-4AAE-A9BD-D333FB04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862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1820"/>
                </a:solidFill>
                <a:latin typeface="Avenir Next"/>
                <a:ea typeface="Avenir Next"/>
                <a:cs typeface="Avenir Next"/>
              </a:defRPr>
            </a:pPr>
            <a:r>
              <a:rPr sz="1163" b="1">
                <a:solidFill>
                  <a:srgbClr val="101820"/>
                </a:solidFill>
                <a:latin typeface="Avenir Next"/>
                <a:ea typeface="Avenir Next"/>
                <a:cs typeface="Avenir Next"/>
              </a:rPr>
              <a:t>GIF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F8A48-B964-418B-B5BB-A7711AE4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86275"/>
            <a:ext cx="321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run GIF와 최종 profile screenshot을 함께 저장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6B93E-7FB0-4FFF-982B-172527ED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410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E28B29-7F77-49AC-9510-C26B4588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6257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98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7982E"/>
                </a:solidFill>
                <a:latin typeface="Apple SD Gothic Neo"/>
                <a:ea typeface="Apple SD Gothic Neo"/>
                <a:cs typeface="Apple SD Gothic Neo"/>
              </a:rPr>
              <a:t>판단 기준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459A1-DBB3-4A6B-A8F5-529251A3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625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물리 요청 -&gt; run 이미지 -&gt; 파라미터 -&gt; 관찰 -&gt; 다음 수정 방향 순서로 PPT 한 장을 추가한다.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C12EA-B702-43DF-970E-78A6B386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538466-0A95-4EC3-82D5-35A85555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Actual GapSim mini-emulator captures; local run generated 2026-05-04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13E635-5D72-4F71-950A-C2D85D00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7823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2026-05-04T21:44:30.9390000Z</dcterms:created>
  <dcterms:modified xsi:type="dcterms:W3CDTF">2026-05-04T21:44:30.9390000Z</dcterms:modified>
</coreProperties>
</file>